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9" autoAdjust="0"/>
    <p:restoredTop sz="94610"/>
  </p:normalViewPr>
  <p:slideViewPr>
    <p:cSldViewPr snapToGrid="0" snapToObjects="1">
      <p:cViewPr>
        <p:scale>
          <a:sx n="80" d="100"/>
          <a:sy n="80" d="100"/>
        </p:scale>
        <p:origin x="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29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22528"/>
          </a:solidFill>
          <a:ln w="12700">
            <a:solidFill>
              <a:srgbClr val="2225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9D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SIMIA-Verde · SENASP / MJSP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400800" y="660196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" dirty="0">
                <a:solidFill>
                  <a:srgbClr val="AEB5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Integrado de Monitoramento, Inteligência Ambiental e Instrução Forense de Queimadas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62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6019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FD6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SIMIA-Verde · SENASP / MJSP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772400" y="660196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" dirty="0">
                <a:solidFill>
                  <a:srgbClr val="A0AA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Defesa do patrimônio socioambiental brasileiro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0"/>
            <a:ext cx="2194560" cy="2194560"/>
          </a:xfrm>
          <a:prstGeom prst="ellipse">
            <a:avLst/>
          </a:prstGeom>
          <a:solidFill>
            <a:srgbClr val="3A3D40">
              <a:alpha val="90000"/>
            </a:srgbClr>
          </a:solidFill>
          <a:ln w="12700">
            <a:solidFill>
              <a:srgbClr val="3A3D4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4892040"/>
            <a:ext cx="2423160" cy="1664208"/>
          </a:xfrm>
          <a:prstGeom prst="ellipse">
            <a:avLst/>
          </a:prstGeom>
          <a:solidFill>
            <a:srgbClr val="35383B">
              <a:alpha val="88000"/>
            </a:srgbClr>
          </a:solidFill>
          <a:ln w="12700">
            <a:solidFill>
              <a:srgbClr val="3538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C8D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4124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SIMIA-Verde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D3D8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foco de calor à prova defensável — antes que o vestígio desapareça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066544"/>
            <a:ext cx="6720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EEF0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desafio não é apenas detectar o incêndio. É preservar materialidade, contexto e rastreabilidade enquanto a ocorrência ainda está ativa.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11480" y="3182112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303438"/>
          </a:solidFill>
          <a:ln w="10160">
            <a:solidFill>
              <a:srgbClr val="4C515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6072" y="334670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FF6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6072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C9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janela típica em que vestígios de campo se perdem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743200" y="3182112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303438"/>
          </a:solidFill>
          <a:ln w="10160">
            <a:solidFill>
              <a:srgbClr val="4C515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907792" y="334670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A7C4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375 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07792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C9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resolução do sensor VIIRS em tempo quase real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5074920" y="3182112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303438"/>
          </a:solidFill>
          <a:ln w="10160">
            <a:solidFill>
              <a:srgbClr val="4C515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39512" y="334670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D7E6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39512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C9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orbitais independentes para validação cruzada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635240" y="1078992"/>
            <a:ext cx="4041648" cy="4160520"/>
          </a:xfrm>
          <a:prstGeom prst="roundRect">
            <a:avLst>
              <a:gd name="adj" fmla="val 1810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73568" y="1444752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 da aplicação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973568" y="1993392"/>
            <a:ext cx="274320" cy="274320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973568" y="20208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94192" y="198424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Materialidade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94192" y="2221992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Convergência orbital: houve fogo, onde e quando.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7973568" y="2743200"/>
            <a:ext cx="274320" cy="274320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973568" y="2770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94192" y="2734056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94192" y="2971800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imóvel e contexto para orientar diligências — sem atribuir culpa.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7973568" y="3493008"/>
            <a:ext cx="274320" cy="274320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973568" y="35204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94192" y="3483864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Tempestividade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94192" y="3721608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mapa tático e diretrizes enquanto o evento ainda evolui.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7973568" y="4242816"/>
            <a:ext cx="274320" cy="274320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973568" y="42702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394192" y="4233672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Validade jurídica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94192" y="4471416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Mantém cadeia de custódia com hash SHA-256 verificável.</a:t>
            </a:r>
            <a:endParaRPr lang="en-US" sz="870" dirty="0"/>
          </a:p>
        </p:txBody>
      </p:sp>
      <p:pic>
        <p:nvPicPr>
          <p:cNvPr id="37" name="Image 0" descr="/mnt/data/simia_src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5806440"/>
            <a:ext cx="526694" cy="452628"/>
          </a:xfrm>
          <a:prstGeom prst="rect">
            <a:avLst/>
          </a:prstGeom>
        </p:spPr>
      </p:pic>
      <p:pic>
        <p:nvPicPr>
          <p:cNvPr id="38" name="Image 1" descr="/mnt/data/simia_src/ppt/media/image-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833" y="5789981"/>
            <a:ext cx="436169" cy="576072"/>
          </a:xfrm>
          <a:prstGeom prst="rect">
            <a:avLst/>
          </a:prstGeom>
        </p:spPr>
      </p:pic>
      <p:pic>
        <p:nvPicPr>
          <p:cNvPr id="39" name="Image 2" descr="/mnt/data/simia_src/ppt/media/image-1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905" y="5798210"/>
            <a:ext cx="444398" cy="559613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3383280" y="595791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MILITAR · POLÍCIA CIVIL · POLÍCIA </a:t>
            </a:r>
            <a:r>
              <a:rPr lang="en-US" sz="950" b="1" dirty="0" smtClean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CIENTÍFICA – CORPO DE BOMBEIROS </a:t>
            </a:r>
            <a:r>
              <a:rPr lang="en-US" sz="950" b="1" dirty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ESTADO DE SÃO PAULO</a:t>
            </a:r>
            <a:endParaRPr lang="en-US" sz="830" dirty="0"/>
          </a:p>
        </p:txBody>
      </p:sp>
      <p:sp>
        <p:nvSpPr>
          <p:cNvPr id="41" name="Text 36"/>
          <p:cNvSpPr/>
          <p:nvPr/>
        </p:nvSpPr>
        <p:spPr>
          <a:xfrm>
            <a:off x="411480" y="480060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CFE3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diferencial: transformar detecção em dossiê operacional e peça de instrução — com limites declarados.</a:t>
            </a:r>
            <a:endParaRPr lang="en-US" sz="11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32004" rIns="32004" tIns="18288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43" name="Image 1" descr="logos/cbpmesp-bras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4079" y="5795984"/>
            <a:ext cx="570069" cy="5700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único dossiê, seis etapas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aplicação organiza o fluxo da coordenada inicial até a peça auditável.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21792" y="2194560"/>
            <a:ext cx="292608" cy="292608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6696" y="215798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Ingestão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" y="267004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Coordenada, UTM, município ou foco orbital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093976" y="2779776"/>
            <a:ext cx="292608" cy="0"/>
          </a:xfrm>
          <a:prstGeom prst="line">
            <a:avLst/>
          </a:prstGeom>
          <a:noFill/>
          <a:ln w="16510">
            <a:solidFill>
              <a:srgbClr val="D9DD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404872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523744" y="2194560"/>
            <a:ext cx="292608" cy="292608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23744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898648" y="215798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Satélites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32888" y="267004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SIPAM, INPE e NASA em validação cruzada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3995928" y="2779776"/>
            <a:ext cx="292608" cy="0"/>
          </a:xfrm>
          <a:prstGeom prst="line">
            <a:avLst/>
          </a:prstGeom>
          <a:noFill/>
          <a:ln w="16510">
            <a:solidFill>
              <a:srgbClr val="D9DD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306824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425696" y="2194560"/>
            <a:ext cx="292608" cy="292608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425696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215798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tático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34840" y="267004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Propagação, vetor de avanço e back-tracking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897880" y="2779776"/>
            <a:ext cx="292608" cy="0"/>
          </a:xfrm>
          <a:prstGeom prst="line">
            <a:avLst/>
          </a:prstGeom>
          <a:noFill/>
          <a:ln w="16510">
            <a:solidFill>
              <a:srgbClr val="D9DD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08776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327648" y="2194560"/>
            <a:ext cx="292608" cy="292608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27648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02552" y="215798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Laudo P4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36792" y="267004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Sete seções com confiabilidade por camada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7799831" y="2779776"/>
            <a:ext cx="292608" cy="0"/>
          </a:xfrm>
          <a:prstGeom prst="line">
            <a:avLst/>
          </a:prstGeom>
          <a:noFill/>
          <a:ln w="16510">
            <a:solidFill>
              <a:srgbClr val="D9DD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110728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229600" y="2194560"/>
            <a:ext cx="292608" cy="292608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229600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04504" y="215798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Diretrizes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38744" y="267004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Recomendações específicas por força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9701784" y="2779776"/>
            <a:ext cx="292608" cy="0"/>
          </a:xfrm>
          <a:prstGeom prst="line">
            <a:avLst/>
          </a:prstGeom>
          <a:noFill/>
          <a:ln w="16510">
            <a:solidFill>
              <a:srgbClr val="D9DD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012680" y="2057400"/>
            <a:ext cx="157276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131552" y="2194560"/>
            <a:ext cx="292608" cy="292608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131552" y="22448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06456" y="215798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Custódia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140696" y="267004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SHA-256 e livro imutável de eventos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594360" y="3886200"/>
            <a:ext cx="11018520" cy="621792"/>
          </a:xfrm>
          <a:prstGeom prst="roundRect">
            <a:avLst>
              <a:gd name="adj" fmla="val 5882"/>
            </a:avLst>
          </a:prstGeom>
          <a:solidFill>
            <a:srgbClr val="26292C"/>
          </a:solidFill>
          <a:ln w="12700">
            <a:solidFill>
              <a:srgbClr val="26292C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41248" y="3941063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E6EB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MESMO ID · MESMO DOSSIÊ · MESMA TRILHA DE AUDITORIA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4032504"/>
            <a:ext cx="6510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BDC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etapa adiciona contexto e evidência sem romper a cadeia de informação.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502920" y="484632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E8EFE6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85800" y="5001768"/>
            <a:ext cx="2231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Civil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85800" y="532180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Inquérito, nexo causal, diligências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355848" y="484632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538728" y="5001768"/>
            <a:ext cx="2231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Científica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538728" y="532180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Laudo, dispersão, verificação criptográfica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08776" y="484632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E8EFE6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391656" y="5001768"/>
            <a:ext cx="2231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 de Bombeiros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391656" y="532180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Combate, propagação, segurança da guarnição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061704" y="4846320"/>
            <a:ext cx="259689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9244584" y="5001768"/>
            <a:ext cx="2231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Policiamento Ambiental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244584" y="532180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Fiscalização, áreas protegidas, queima autorizada</a:t>
            </a:r>
            <a:endParaRPr lang="en-US" sz="95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32004" rIns="32004" tIns="18288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oficiais, abertas e rastreáveis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materialidade ganha força quando fontes independentes convergem — e quando falhas de consulta são declaradas.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274320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65960"/>
            <a:ext cx="2743200" cy="457200"/>
          </a:xfrm>
          <a:prstGeom prst="rect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20848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CENSIPAM / Ministério da Defesa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39572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e polígonos consolidados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Cruzamento com CAR, TI e UC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Persistência do fogo em dias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29000" y="1965960"/>
            <a:ext cx="274320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29000" y="1965960"/>
            <a:ext cx="2743200" cy="457200"/>
          </a:xfrm>
          <a:prstGeom prst="rect">
            <a:avLst/>
          </a:prstGeom>
          <a:solidFill>
            <a:srgbClr val="497443"/>
          </a:solidFill>
          <a:ln w="12700">
            <a:solidFill>
              <a:srgbClr val="49744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93592" y="20848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93592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BDQueimadas / MCTI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11880" y="2971800"/>
            <a:ext cx="239572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Satélite de referência e FRP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Bioma, vegetação e risco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anual disponível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55080" y="1965960"/>
            <a:ext cx="274320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55080" y="1965960"/>
            <a:ext cx="2743200" cy="457200"/>
          </a:xfrm>
          <a:prstGeom prst="rect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19672" y="20848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9672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FIRMS / LANCE / EOSDIS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37960" y="2971800"/>
            <a:ext cx="239572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VIIRS com resolução de 375 m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Potência radiativa e horário</a:t>
            </a:r>
            <a:endParaRPr lang="en-US" sz="850" dirty="0"/>
          </a:p>
          <a:p>
            <a:pPr marL="129540" indent="-12954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 de brilho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308592" y="1965960"/>
            <a:ext cx="2377440" cy="2286000"/>
          </a:xfrm>
          <a:prstGeom prst="roundRect">
            <a:avLst>
              <a:gd name="adj" fmla="val 2727"/>
            </a:avLst>
          </a:prstGeom>
          <a:solidFill>
            <a:srgbClr val="26292C"/>
          </a:solidFill>
          <a:ln w="12700">
            <a:solidFill>
              <a:srgbClr val="26292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528048" y="2194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Enriquecimento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28048" y="2596896"/>
            <a:ext cx="196596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4968" indent="-12496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Open-Meteo: vento, umidade, temperatura</a:t>
            </a:r>
            <a:endParaRPr lang="en-US" sz="820" dirty="0"/>
          </a:p>
          <a:p>
            <a:pPr marL="124968" indent="-12496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IBGE / BrasilAPI: município e UF</a:t>
            </a:r>
            <a:endParaRPr lang="en-US" sz="820" dirty="0"/>
          </a:p>
          <a:p>
            <a:pPr marL="124968" indent="-12496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OpenStreetMap: vias e hidrografia</a:t>
            </a:r>
            <a:endParaRPr lang="en-US" sz="820" dirty="0"/>
          </a:p>
          <a:p>
            <a:pPr marL="124968" indent="-12496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DATAGEO: declarado indisponível quando </a:t>
            </a:r>
            <a:r>
              <a:rPr lang="en-US" sz="1160" dirty="0" err="1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r>
              <a:rPr lang="en-US" sz="1160" dirty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60" dirty="0" err="1" smtClean="0">
                <a:solidFill>
                  <a:srgbClr val="D6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</a:t>
            </a:r>
            <a:endParaRPr lang="en-US" sz="820" dirty="0" smtClean="0">
              <a:solidFill>
                <a:srgbClr val="D6DED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24968" indent="-12496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160" dirty="0" smtClean="0">
                <a:solidFill>
                  <a:srgbClr val="D6DED7"/>
                </a:solidFill>
                <a:latin typeface="Aptos" pitchFamily="34" charset="0"/>
                <a:ea typeface="Aptos" pitchFamily="34" charset="-122"/>
              </a:rPr>
              <a:t>SIGAMGEO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02920" y="440740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Regra de confiabilidade aplicada a toda camada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4892040"/>
            <a:ext cx="3401568" cy="1078992"/>
          </a:xfrm>
          <a:prstGeom prst="roundRect">
            <a:avLst>
              <a:gd name="adj" fmla="val 3390"/>
            </a:avLst>
          </a:prstGeom>
          <a:solidFill>
            <a:srgbClr val="E8EFE6"/>
          </a:solidFill>
          <a:ln w="762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7512" y="5074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E6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" y="53766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fonte respondeu; dado com órgão e data da consulta.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4206240" y="4892040"/>
            <a:ext cx="3401568" cy="1078992"/>
          </a:xfrm>
          <a:prstGeom prst="roundRect">
            <a:avLst>
              <a:gd name="adj" fmla="val 3390"/>
            </a:avLst>
          </a:prstGeom>
          <a:solidFill>
            <a:srgbClr val="F5E8E3"/>
          </a:solidFill>
          <a:ln w="762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370832" y="5074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C63A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70832" y="53766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 de modelo matemático; sempre marcada como projeção.</a:t>
            </a:r>
            <a:endParaRPr lang="en-US" sz="84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32004" rIns="32004" tIns="18288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94A84A"/>
          </a:solidFill>
          <a:ln w="12700">
            <a:solidFill>
              <a:srgbClr val="94A8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C8D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Inteligência assistiva sem fabricar evidência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C8D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IA e as regras analíticas organizam, correlacionam e explicam — a fonte da prova continua sendo o dado oficial e o vestígio de campo.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2971800" cy="2633472"/>
          </a:xfrm>
          <a:prstGeom prst="roundRect">
            <a:avLst>
              <a:gd name="adj" fmla="val 2083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2011680"/>
            <a:ext cx="2971800" cy="475488"/>
          </a:xfrm>
          <a:prstGeom prst="rect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15798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Entradas verificáveis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2743200"/>
            <a:ext cx="2569464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Focos orbitais e polígonos</a:t>
            </a:r>
            <a:endParaRPr lang="en-US" sz="9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Meteorologia do instante</a:t>
            </a:r>
            <a:endParaRPr lang="en-US" sz="9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Malha viária e hidrografia</a:t>
            </a:r>
            <a:endParaRPr lang="en-US" sz="9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Coordenadas, CAR/áreas protegidas quando disponíveis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22192" y="2011680"/>
            <a:ext cx="3977640" cy="2633472"/>
          </a:xfrm>
          <a:prstGeom prst="roundRect">
            <a:avLst>
              <a:gd name="adj" fmla="val 2083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822192" y="2011680"/>
            <a:ext cx="3977640" cy="475488"/>
          </a:xfrm>
          <a:prstGeom prst="rect">
            <a:avLst/>
          </a:prstGeom>
          <a:solidFill>
            <a:srgbClr val="94A84A"/>
          </a:solidFill>
          <a:ln w="12700">
            <a:solidFill>
              <a:srgbClr val="94A8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05072" y="21579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IA + regras analíticas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2743200"/>
            <a:ext cx="3575304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Cruza fontes e sinaliza convergências</a:t>
            </a:r>
            <a:endParaRPr lang="en-US" sz="9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 alertas e inconsistências</a:t>
            </a:r>
            <a:endParaRPr lang="en-US" sz="9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diretrizes por missão</a:t>
            </a:r>
            <a:endParaRPr lang="en-US" sz="9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o laudo e explicita grau de confiança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28432" y="2011680"/>
            <a:ext cx="3657600" cy="2633472"/>
          </a:xfrm>
          <a:prstGeom prst="roundRect">
            <a:avLst>
              <a:gd name="adj" fmla="val 2083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28432" y="2011680"/>
            <a:ext cx="3657600" cy="475488"/>
          </a:xfrm>
          <a:prstGeom prst="rect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11312" y="215798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Saídas da aplicação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2743200"/>
            <a:ext cx="3255264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tático e projeções</a:t>
            </a:r>
            <a:endParaRPr lang="en-US" sz="9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Quesitos e diligências sugeridas</a:t>
            </a:r>
            <a:endParaRPr lang="en-US" sz="9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 err="1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Laudo</a:t>
            </a: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20" dirty="0" smtClean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estruturado</a:t>
            </a:r>
            <a:endParaRPr lang="en-US" sz="900" dirty="0"/>
          </a:p>
          <a:p>
            <a:pPr marL="137160" indent="-13716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E1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Trilha de custódia e exportações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02152" y="3328416"/>
            <a:ext cx="292608" cy="0"/>
          </a:xfrm>
          <a:prstGeom prst="line">
            <a:avLst/>
          </a:prstGeom>
          <a:noFill/>
          <a:ln w="16510">
            <a:solidFill>
              <a:srgbClr val="7B84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827264" y="3328416"/>
            <a:ext cx="173736" cy="0"/>
          </a:xfrm>
          <a:prstGeom prst="line">
            <a:avLst/>
          </a:prstGeom>
          <a:noFill/>
          <a:ln w="16510">
            <a:solidFill>
              <a:srgbClr val="7B84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02920" y="4983480"/>
            <a:ext cx="11183112" cy="850392"/>
          </a:xfrm>
          <a:prstGeom prst="roundRect">
            <a:avLst>
              <a:gd name="adj" fmla="val 4301"/>
            </a:avLst>
          </a:prstGeom>
          <a:solidFill>
            <a:srgbClr val="1F2224"/>
          </a:solidFill>
          <a:ln w="10160">
            <a:solidFill>
              <a:srgbClr val="51565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" y="521208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A7C4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93392" y="5184648"/>
            <a:ext cx="9281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dirty="0">
                <a:solidFill>
                  <a:srgbClr val="D6D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inventar dados  ·  Não transformar projeção em medição  ·  Não atribuir autoria  ·  Não tipificar em definitivo  ·  Registrar o que ficou indisponível</a:t>
            </a:r>
            <a:endParaRPr lang="en-US" sz="980" dirty="0"/>
          </a:p>
        </p:txBody>
      </p:sp>
      <p:pic>
        <p:nvPicPr>
          <p:cNvPr id="24" name="Image 0" descr="/mnt/data/simia_src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5897880"/>
            <a:ext cx="526694" cy="452628"/>
          </a:xfrm>
          <a:prstGeom prst="rect">
            <a:avLst/>
          </a:prstGeom>
        </p:spPr>
      </p:pic>
      <p:pic>
        <p:nvPicPr>
          <p:cNvPr id="25" name="Image 1" descr="/mnt/data/simia_src/ppt/media/image-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833" y="5881421"/>
            <a:ext cx="436169" cy="576072"/>
          </a:xfrm>
          <a:prstGeom prst="rect">
            <a:avLst/>
          </a:prstGeom>
        </p:spPr>
      </p:pic>
      <p:pic>
        <p:nvPicPr>
          <p:cNvPr id="26" name="Image 2" descr="/mnt/data/simia_src/ppt/media/image-1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905" y="5889650"/>
            <a:ext cx="444398" cy="55961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502152" y="596828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MILITAR · POLÍCIA CIVIL · POLÍCIA </a:t>
            </a:r>
            <a:r>
              <a:rPr lang="en-US" sz="950" b="1" dirty="0" smtClean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CIENTÍFICA – CORPO DE BOMBEIROS </a:t>
            </a:r>
            <a:r>
              <a:rPr lang="en-US" sz="950" b="1" dirty="0">
                <a:solidFill>
                  <a:srgbClr val="CCD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ESTADO DE SÃO PAULO</a:t>
            </a:r>
            <a:endParaRPr lang="en-US" sz="83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32004" rIns="32004" tIns="18288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9" name="Image 1" descr="logos/cbpmesp-bras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7782" y="5908136"/>
            <a:ext cx="570069" cy="5700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HUMANA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1120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operador mantém o controle do que entra, do que significa e do que sai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automação acelera o trabalho; a validação humana preserva contexto, responsabilidade e limites periciais.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61288" y="2048256"/>
            <a:ext cx="475488" cy="475488"/>
          </a:xfrm>
          <a:prstGeom prst="ellipse">
            <a:avLst/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61288" y="2139696"/>
            <a:ext cx="475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688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entrada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76072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Coordenada, município e comarca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240280" y="2286000"/>
            <a:ext cx="603504" cy="0"/>
          </a:xfrm>
          <a:prstGeom prst="line">
            <a:avLst/>
          </a:prstGeom>
          <a:noFill/>
          <a:ln w="16510">
            <a:solidFill>
              <a:srgbClr val="D9DD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47288" y="2048256"/>
            <a:ext cx="475488" cy="475488"/>
          </a:xfrm>
          <a:prstGeom prst="ellipse">
            <a:avLst/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47288" y="2139696"/>
            <a:ext cx="475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2688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Checar fonte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862072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REAL / SIMULADO / INDISPONÍVEL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4526280" y="2286000"/>
            <a:ext cx="603504" cy="0"/>
          </a:xfrm>
          <a:prstGeom prst="line">
            <a:avLst/>
          </a:prstGeom>
          <a:noFill/>
          <a:ln w="16510">
            <a:solidFill>
              <a:srgbClr val="D9DD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733288" y="2048256"/>
            <a:ext cx="475488" cy="475488"/>
          </a:xfrm>
          <a:prstGeom prst="ellipse">
            <a:avLst/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33288" y="2139696"/>
            <a:ext cx="475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2688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modelo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148072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Projeção ≠ medição de área queimada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812280" y="2286000"/>
            <a:ext cx="603504" cy="0"/>
          </a:xfrm>
          <a:prstGeom prst="line">
            <a:avLst/>
          </a:prstGeom>
          <a:noFill/>
          <a:ln w="16510">
            <a:solidFill>
              <a:srgbClr val="D9DD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019288" y="2048256"/>
            <a:ext cx="475488" cy="475488"/>
          </a:xfrm>
          <a:prstGeom prst="ellipse">
            <a:avLst/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019288" y="2139696"/>
            <a:ext cx="475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60920" y="2688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Confrontar campo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7434072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Vestígios, oitiva e perícia in loco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9098280" y="2286000"/>
            <a:ext cx="603504" cy="0"/>
          </a:xfrm>
          <a:prstGeom prst="line">
            <a:avLst/>
          </a:prstGeom>
          <a:noFill/>
          <a:ln w="16510">
            <a:solidFill>
              <a:srgbClr val="D9DD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305288" y="2048256"/>
            <a:ext cx="475488" cy="475488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305288" y="2139696"/>
            <a:ext cx="475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46920" y="2688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Autorizar peça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9720072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Revisão, assinatura e exportação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02920" y="3822192"/>
            <a:ext cx="6720840" cy="1956816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49808" y="407822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que exigem decisão ou diligência humana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9808" y="4700016"/>
            <a:ext cx="6108192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Autoria depende de investigação e vestígio de campo</a:t>
            </a:r>
            <a:endParaRPr lang="en-US" sz="910" dirty="0"/>
          </a:p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 queimada projetada não é área periciada</a:t>
            </a:r>
            <a:endParaRPr lang="en-US" sz="910" dirty="0"/>
          </a:p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Vegetação e estágio sucessional exigem verificação in loco</a:t>
            </a:r>
            <a:endParaRPr lang="en-US" sz="910" dirty="0"/>
          </a:p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Queima autorizada e tipificação definitiva dependem de fontes e autoridades competentes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7479792" y="3822192"/>
            <a:ext cx="4206240" cy="1956816"/>
          </a:xfrm>
          <a:prstGeom prst="roundRect">
            <a:avLst>
              <a:gd name="adj" fmla="val 2336"/>
            </a:avLst>
          </a:prstGeom>
          <a:solidFill>
            <a:srgbClr val="26292C"/>
          </a:solidFill>
          <a:ln w="12700">
            <a:solidFill>
              <a:srgbClr val="26292C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754112" y="407822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Responsabilidade distribuída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72400" y="4700016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D5D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Operador confirma contexto e exceções</a:t>
            </a:r>
            <a:endParaRPr lang="en-US" sz="900" dirty="0"/>
          </a:p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D5D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Bombeiro valida condições de segurança e tática</a:t>
            </a:r>
            <a:endParaRPr lang="en-US" sz="900" dirty="0"/>
          </a:p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D5D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Perito confronta modelo com vestígio</a:t>
            </a:r>
            <a:endParaRPr lang="en-US" sz="900" dirty="0"/>
          </a:p>
          <a:p>
            <a:pPr marL="138684" indent="-13868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220" dirty="0">
                <a:solidFill>
                  <a:srgbClr val="D5D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Delegado e MP definem enquadramento jurídico final</a:t>
            </a:r>
            <a:endParaRPr lang="en-US" sz="9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32004" rIns="32004" tIns="18288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base comum, quatro decisões operacionais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mesmo dossiê é consumido sob a competência de cada corporação — sem retrabalho e sem confundir atribuições.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83480" y="2395728"/>
            <a:ext cx="2231136" cy="2231136"/>
          </a:xfrm>
          <a:prstGeom prst="ellipse">
            <a:avLst/>
          </a:prstGeom>
          <a:solidFill>
            <a:srgbClr val="26292C"/>
          </a:solidFill>
          <a:ln w="12700">
            <a:solidFill>
              <a:srgbClr val="26292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74920" y="2980944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DOSSIÊ</a:t>
            </a:r>
            <a:endParaRPr lang="en-US" sz="1600" dirty="0"/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SIMIA-VERDE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3703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dirty="0">
                <a:solidFill>
                  <a:srgbClr val="C7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+ modelo + custódia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37947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2920" y="1965960"/>
            <a:ext cx="82296" cy="1417320"/>
          </a:xfrm>
          <a:prstGeom prst="rect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simia_src/ppt/media/image-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40280"/>
            <a:ext cx="384048" cy="5120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52728" y="21671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Civil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252728" y="244144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2E6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investigativa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52728" y="2688336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Nexo causal · diligências · identificação do responsável vinculado ao imóvel · quesitos para o inquérito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7891272" y="1965960"/>
            <a:ext cx="37947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891272" y="1965960"/>
            <a:ext cx="82296" cy="1417320"/>
          </a:xfrm>
          <a:prstGeom prst="rect">
            <a:avLst/>
          </a:prstGeom>
          <a:solidFill>
            <a:srgbClr val="C8A84E"/>
          </a:solidFill>
          <a:ln w="12700">
            <a:solidFill>
              <a:srgbClr val="C8A84E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/mnt/data/simia_src/ppt/media/image-1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2221992"/>
            <a:ext cx="384048" cy="4937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641080" y="21671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Científica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641080" y="244144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C8A8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pericial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8641080" y="2688336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de exame · dinâmica do incêndio · verificação criptográfica · laudo com ressalvas e confiabilidade por camada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502920" y="4187952"/>
            <a:ext cx="37947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502920" y="4187952"/>
            <a:ext cx="82296" cy="1417320"/>
          </a:xfrm>
          <a:prstGeom prst="rect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1252728" y="43891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 de Bombeiros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252728" y="46634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C63A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de resposta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252728" y="4910328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Vetor de avanço · aceiros ancorados · mananciais · rota de recuo · alerta de mudança de vento</a:t>
            </a:r>
            <a:endParaRPr lang="en-US" sz="860" dirty="0"/>
          </a:p>
        </p:txBody>
      </p:sp>
      <p:sp>
        <p:nvSpPr>
          <p:cNvPr id="28" name="Shape 23"/>
          <p:cNvSpPr/>
          <p:nvPr/>
        </p:nvSpPr>
        <p:spPr>
          <a:xfrm>
            <a:off x="7891272" y="4187952"/>
            <a:ext cx="37947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DDD8"/>
            </a:solidFill>
            <a:prstDash val="solid"/>
          </a:ln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7891272" y="4187952"/>
            <a:ext cx="82296" cy="1417320"/>
          </a:xfrm>
          <a:prstGeom prst="rect">
            <a:avLst/>
          </a:prstGeom>
          <a:solidFill>
            <a:srgbClr val="7BA05B"/>
          </a:solidFill>
          <a:ln w="12700">
            <a:solidFill>
              <a:srgbClr val="7BA05B"/>
            </a:solidFill>
            <a:prstDash val="solid"/>
          </a:ln>
        </p:spPr>
        <p:txBody>
          <a:bodyPr/>
          <a:p/>
        </p:txBody>
      </p:sp>
      <p:pic>
        <p:nvPicPr>
          <p:cNvPr id="30" name="Image 3" descr="/mnt/data/simia_src/ppt/media/image-1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507992"/>
            <a:ext cx="502920" cy="4297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641080" y="43891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Policiamento Ambiental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8641080" y="46634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 b="1" dirty="0">
                <a:solidFill>
                  <a:srgbClr val="7BA0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fiscalizatória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8641080" y="4910328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Áreas protegidas · sobreposição territorial · queima autorizada quando verificável · preservação de vestígios</a:t>
            </a:r>
            <a:endParaRPr lang="en-US" sz="860" dirty="0"/>
          </a:p>
        </p:txBody>
      </p:sp>
      <p:sp>
        <p:nvSpPr>
          <p:cNvPr id="34" name="Shape 28"/>
          <p:cNvSpPr/>
          <p:nvPr/>
        </p:nvSpPr>
        <p:spPr>
          <a:xfrm>
            <a:off x="4370832" y="2697480"/>
            <a:ext cx="950976" cy="0"/>
          </a:xfrm>
          <a:prstGeom prst="line">
            <a:avLst/>
          </a:prstGeom>
          <a:noFill/>
          <a:ln w="13970">
            <a:solidFill>
              <a:srgbClr val="D9DD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29"/>
          <p:cNvSpPr/>
          <p:nvPr/>
        </p:nvSpPr>
        <p:spPr>
          <a:xfrm>
            <a:off x="6876288" y="2697480"/>
            <a:ext cx="941832" cy="0"/>
          </a:xfrm>
          <a:prstGeom prst="line">
            <a:avLst/>
          </a:prstGeom>
          <a:noFill/>
          <a:ln w="13970">
            <a:solidFill>
              <a:srgbClr val="D9DD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Shape 30"/>
          <p:cNvSpPr/>
          <p:nvPr/>
        </p:nvSpPr>
        <p:spPr>
          <a:xfrm>
            <a:off x="4370832" y="4526280"/>
            <a:ext cx="1207008" cy="0"/>
          </a:xfrm>
          <a:prstGeom prst="line">
            <a:avLst/>
          </a:prstGeom>
          <a:noFill/>
          <a:ln w="13970">
            <a:solidFill>
              <a:srgbClr val="D9DD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Shape 31"/>
          <p:cNvSpPr/>
          <p:nvPr/>
        </p:nvSpPr>
        <p:spPr>
          <a:xfrm>
            <a:off x="6620256" y="4526280"/>
            <a:ext cx="1197864" cy="0"/>
          </a:xfrm>
          <a:prstGeom prst="line">
            <a:avLst/>
          </a:prstGeom>
          <a:noFill/>
          <a:ln w="13970">
            <a:solidFill>
              <a:srgbClr val="D9DD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Text 32"/>
          <p:cNvSpPr/>
          <p:nvPr/>
        </p:nvSpPr>
        <p:spPr>
          <a:xfrm>
            <a:off x="2148840" y="592531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6" b="1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Princípio de decisão: segurança da guarnição antes da eficácia de combate; competência institucional antes da automação.</a:t>
            </a:r>
            <a:endParaRPr lang="en-US" sz="96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32004" rIns="32004" tIns="18288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40" name="Image 1" descr="logos/cbpmesp-bras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4389120"/>
            <a:ext cx="507492" cy="507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93776" cy="310896"/>
          </a:xfrm>
          <a:prstGeom prst="roundRect">
            <a:avLst>
              <a:gd name="adj" fmla="val 23529"/>
            </a:avLst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393192"/>
            <a:ext cx="493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" y="356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C8D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Rastreabilidade, auditoria e melhoria contínua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C8D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encerra o ciclo: prova verificável, decisão revisável e evolução das integrações que hoje ainda têm lacunas.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4709160" cy="3566160"/>
          </a:xfrm>
          <a:prstGeom prst="roundRect">
            <a:avLst>
              <a:gd name="adj" fmla="val 1538"/>
            </a:avLst>
          </a:prstGeom>
          <a:solidFill>
            <a:srgbClr val="303438"/>
          </a:solidFill>
          <a:ln w="10160">
            <a:solidFill>
              <a:srgbClr val="4C515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221284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Cadeia de custódia digital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" y="26791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dirty="0">
                <a:solidFill>
                  <a:srgbClr val="B7C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STAMP_UTC  |  GEO_REF  |  DATA_SOURCES  |  OPERATOR_ID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58952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E8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 SHA-256   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3383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b="1" dirty="0">
                <a:solidFill>
                  <a:srgbClr val="F0D6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9AE833133A70B05B9B100A8A81FC7326740AA1AB3DB…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768096" y="3858768"/>
            <a:ext cx="182880" cy="182880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78992" y="3849624"/>
            <a:ext cx="1170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Determinístico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304288" y="3849624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C7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mesma evidência gera o mesmo hash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68096" y="4215384"/>
            <a:ext cx="182880" cy="182880"/>
          </a:xfrm>
          <a:prstGeom prst="ellipse">
            <a:avLst/>
          </a:prstGeom>
          <a:solidFill>
            <a:srgbClr val="7BA05B"/>
          </a:solidFill>
          <a:ln w="12700">
            <a:solidFill>
              <a:srgbClr val="7BA05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78992" y="4206240"/>
            <a:ext cx="1170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Append-only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304288" y="420624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C7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alterar ou apagar um evento é recusado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768096" y="4572000"/>
            <a:ext cx="182880" cy="182880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78992" y="4562856"/>
            <a:ext cx="1170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Não-repúdio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304288" y="4562856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C7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operador e carimbo UTC em cada evento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68096" y="4928616"/>
            <a:ext cx="182880" cy="182880"/>
          </a:xfrm>
          <a:prstGeom prst="ellipse">
            <a:avLst/>
          </a:prstGeom>
          <a:solidFill>
            <a:srgbClr val="7BA05B"/>
          </a:solidFill>
          <a:ln w="12700">
            <a:solidFill>
              <a:srgbClr val="7BA05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78992" y="4919472"/>
            <a:ext cx="1170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Verificável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304288" y="491947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C7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validador acusa divergência mínima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559552" y="1938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Indicadores para avaliar o ciclo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559552" y="2542032"/>
            <a:ext cx="2834640" cy="603504"/>
          </a:xfrm>
          <a:prstGeom prst="roundRect">
            <a:avLst>
              <a:gd name="adj" fmla="val 14286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742432" y="2569463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EA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Convergência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42432" y="2798063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BE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quantas fontes independentes confirmam o evento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59552" y="3172968"/>
            <a:ext cx="2834640" cy="603504"/>
          </a:xfrm>
          <a:prstGeom prst="roundRect">
            <a:avLst>
              <a:gd name="adj" fmla="val 14286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742432" y="3200399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EA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Tempestividade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42432" y="342900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BE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entre foco, ingestão, análise e decisão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59552" y="3803904"/>
            <a:ext cx="2834640" cy="603504"/>
          </a:xfrm>
          <a:prstGeom prst="roundRect">
            <a:avLst>
              <a:gd name="adj" fmla="val 14286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742432" y="3831336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EA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Completude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42432" y="405993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BE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camadas verificadas × indisponíveis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59552" y="4434840"/>
            <a:ext cx="2834640" cy="603504"/>
          </a:xfrm>
          <a:prstGeom prst="roundRect">
            <a:avLst>
              <a:gd name="adj" fmla="val 14286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742432" y="446227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EA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Auditabilidade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742432" y="469087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BE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eventos, operador, hash e reprocessamentos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59552" y="5065775"/>
            <a:ext cx="2834640" cy="603504"/>
          </a:xfrm>
          <a:prstGeom prst="roundRect">
            <a:avLst>
              <a:gd name="adj" fmla="val 14286"/>
            </a:avLst>
          </a:prstGeom>
          <a:solidFill>
            <a:srgbClr val="303438"/>
          </a:solidFill>
          <a:ln w="10160">
            <a:solidFill>
              <a:srgbClr val="4A4F5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742432" y="5093207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EA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Efetividade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742432" y="5321807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BEC7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e diligências geradas após a análise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668512" y="1993392"/>
            <a:ext cx="3017520" cy="3566160"/>
          </a:xfrm>
          <a:prstGeom prst="roundRect">
            <a:avLst>
              <a:gd name="adj" fmla="val 1818"/>
            </a:avLst>
          </a:prstGeom>
          <a:solidFill>
            <a:srgbClr val="F5F5F2"/>
          </a:solidFill>
          <a:ln w="12700">
            <a:solidFill>
              <a:srgbClr val="F5F5F2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961120" y="22677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1" dirty="0">
                <a:solidFill>
                  <a:srgbClr val="202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Evolução da solução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8961120" y="2852928"/>
            <a:ext cx="256032" cy="256032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961120" y="288950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345168" y="28346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SICAR</a:t>
            </a:r>
            <a:endParaRPr lang="en-US" sz="970" dirty="0"/>
          </a:p>
        </p:txBody>
      </p:sp>
      <p:sp>
        <p:nvSpPr>
          <p:cNvPr id="45" name="Text 43"/>
          <p:cNvSpPr/>
          <p:nvPr/>
        </p:nvSpPr>
        <p:spPr>
          <a:xfrm>
            <a:off x="9345168" y="307238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perímetro do imóvel rural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8961120" y="3465576"/>
            <a:ext cx="256032" cy="256032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961120" y="350215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345168" y="34472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Cadastros estaduais</a:t>
            </a:r>
            <a:endParaRPr lang="en-US" sz="970" dirty="0"/>
          </a:p>
        </p:txBody>
      </p:sp>
      <p:sp>
        <p:nvSpPr>
          <p:cNvPr id="49" name="Text 47"/>
          <p:cNvSpPr/>
          <p:nvPr/>
        </p:nvSpPr>
        <p:spPr>
          <a:xfrm>
            <a:off x="9345168" y="368503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queima autorizada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8961120" y="4078224"/>
            <a:ext cx="256032" cy="256032"/>
          </a:xfrm>
          <a:prstGeom prst="ellipse">
            <a:avLst/>
          </a:prstGeom>
          <a:solidFill>
            <a:srgbClr val="2E6B36"/>
          </a:solidFill>
          <a:ln w="12700">
            <a:solidFill>
              <a:srgbClr val="2E6B36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961120" y="411480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345168" y="405993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MapBiomas</a:t>
            </a:r>
            <a:endParaRPr lang="en-US" sz="970" dirty="0"/>
          </a:p>
        </p:txBody>
      </p:sp>
      <p:sp>
        <p:nvSpPr>
          <p:cNvPr id="53" name="Text 51"/>
          <p:cNvSpPr/>
          <p:nvPr/>
        </p:nvSpPr>
        <p:spPr>
          <a:xfrm>
            <a:off x="9345168" y="429768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caracterização de vegetação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8961120" y="4690872"/>
            <a:ext cx="256032" cy="256032"/>
          </a:xfrm>
          <a:prstGeom prst="ellipse">
            <a:avLst/>
          </a:prstGeom>
          <a:solidFill>
            <a:srgbClr val="C63A13"/>
          </a:solidFill>
          <a:ln w="12700">
            <a:solidFill>
              <a:srgbClr val="C63A13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8961120" y="472744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345168" y="467258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 b="1" dirty="0">
                <a:solidFill>
                  <a:srgbClr val="2023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TLS + autenticação</a:t>
            </a:r>
            <a:endParaRPr lang="en-US" sz="970" dirty="0"/>
          </a:p>
        </p:txBody>
      </p:sp>
      <p:sp>
        <p:nvSpPr>
          <p:cNvPr id="57" name="Text 55"/>
          <p:cNvSpPr/>
          <p:nvPr/>
        </p:nvSpPr>
        <p:spPr>
          <a:xfrm>
            <a:off x="9345168" y="49103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dirty="0">
                <a:solidFill>
                  <a:srgbClr val="697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seguro em rede institucional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5559552" y="5724144"/>
            <a:ext cx="6126480" cy="475488"/>
          </a:xfrm>
          <a:prstGeom prst="roundRect">
            <a:avLst>
              <a:gd name="adj" fmla="val 7692"/>
            </a:avLst>
          </a:prstGeom>
          <a:solidFill>
            <a:srgbClr val="1F2224"/>
          </a:solidFill>
          <a:ln w="7620">
            <a:solidFill>
              <a:srgbClr val="51565A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742432" y="5843016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D8E5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decisão humana + prova verificável + ciclo de melhoria</a:t>
            </a:r>
            <a:endParaRPr lang="en-US" sz="1000" dirty="0"/>
          </a:p>
        </p:txBody>
      </p:sp>
      <p:pic>
        <p:nvPicPr>
          <p:cNvPr id="60" name="Image 0" descr="/mnt/data/simia_src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5806440"/>
            <a:ext cx="526694" cy="452628"/>
          </a:xfrm>
          <a:prstGeom prst="rect">
            <a:avLst/>
          </a:prstGeom>
        </p:spPr>
      </p:pic>
      <p:pic>
        <p:nvPicPr>
          <p:cNvPr id="61" name="Image 1" descr="/mnt/data/simia_src/ppt/media/image-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832" y="5789980"/>
            <a:ext cx="436168" cy="576072"/>
          </a:xfrm>
          <a:prstGeom prst="rect">
            <a:avLst/>
          </a:prstGeom>
        </p:spPr>
      </p:pic>
      <p:pic>
        <p:nvPicPr>
          <p:cNvPr id="62" name="Image 2" descr="/mnt/data/simia_src/ppt/media/image-1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904" y="5798210"/>
            <a:ext cx="444398" cy="559612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3154680" y="625449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FC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POLÍCIA MILITAR · POLÍCIA CIVIL · POLÍCIA </a:t>
            </a:r>
            <a:r>
              <a:rPr lang="en-US" sz="950" b="1" dirty="0" smtClean="0">
                <a:solidFill>
                  <a:srgbClr val="BFC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CIENTÍFICA – CORPO DE BOMBEIROS</a:t>
            </a:r>
            <a:endParaRPr lang="en-US" sz="74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59282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32004" rIns="32004" tIns="18288" bIns="18288"/>
          <a:lstStyle>
            <a:lvl1pPr>
              <a:defRPr sz="700">
                <a:solidFill>
                  <a:srgbClr val="D9DED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5" name="Image 1" descr="logos/cbpmesp-bras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3840" y="5796381"/>
            <a:ext cx="569671" cy="5696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1044</Words>
  <Application>Microsoft Office PowerPoint</Application>
  <PresentationFormat>Widescreen</PresentationFormat>
  <Paragraphs>215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Courier New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SENASP / MJSP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SIMIA-Verde — Problema, Processo, Dados, IA, Validação Humana, Decisão e Avaliação</dc:title>
  <dc:subject>SIMIA-Verde — apresentação executiva em 7 pilares</dc:subject>
  <dc:creator>OpenAI</dc:creator>
  <cp:lastModifiedBy>RONALDO PEREIRA JORGE JUNIOR</cp:lastModifiedBy>
  <cp:revision>5</cp:revision>
  <dcterms:created xsi:type="dcterms:W3CDTF">2026-09-18T12:18:32Z</dcterms:created>
  <dcterms:modified xsi:type="dcterms:W3CDTF">2026-09-18T12:38:14Z</dcterms:modified>
</cp:coreProperties>
</file>