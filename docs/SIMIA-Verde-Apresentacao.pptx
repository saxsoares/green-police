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SIMIA-Verde cobre a cadeia completa: detecção orbital, análise, laudo pericial e custódia da 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diferencial não é detectar fogo — outros sistemas fazem isso. É transformar a detecção em peça que instrui inquérito.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São Paulo, Corpo de Bombeiros e Policiamento Ambiental integram a PMESP — por isso o mesmo brasão aparece duas vezes, em atribuições distintas.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operador percorre as seis abas na ordem. Cada etapa enriquece o mesmo dossiê.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comarca é inferida do município e determina a competência jurisdicional do laudo — o sistema alerta para confirmar a comarca sede.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Satélite prova materialidade — houve fogo, onde e quando. Não prova autoria. O sistema mantém essa fronteira explícita.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balizamento serve à resposta tática emergencial. Não substitui o laudo de dinâmica de incêndio feito in 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tipificação é preliminar e condicionada aos fatos apurados. A definitiva cabe ao Delegado e ao Ministério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diretrizes citam vias e cursos d’água reais obtidos da base cartográfica. Quando não há feição mapeada, o texto declara a ausência.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livro sobrevive à exclusão do dossiê: a própria remoção fica registrada, com operador e horário.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Nenhuma credencial institucional restrita é exigida. Sem a chave da NASA o sistema opera com SIPAM e INPE.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princípio é aplicado no código: camadas sem integração são marcadas INDISPONÍVEL, e o laudo carrega o inventário do que não foi apurado.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limite vem acompanhado, no próprio laudo, da orientação de como o operador verifica aquilo manualmente.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instalação não exige Node no servidor: build e execução acontecem dentro do contêiner.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Os próximos passos ampliam a cobertura das camadas hoje declaradas como não verificadas.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371600"/>
            <a:ext cx="4206240" cy="4206240"/>
          </a:xfrm>
          <a:prstGeom prst="ellipse">
            <a:avLst/>
          </a:prstGeom>
          <a:solidFill>
            <a:srgbClr val="34363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846320"/>
            <a:ext cx="2377440" cy="2377440"/>
          </a:xfrm>
          <a:prstGeom prst="ellipse">
            <a:avLst/>
          </a:prstGeom>
          <a:solidFill>
            <a:srgbClr val="3436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SENASP · MINISTÉRIO DA JUSTIÇA E SEGURANÇA PÚBLICA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8016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SIMIA-Verde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487168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E8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Integrado de Monitoramento, Inteligência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E8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Ambiental e Instrução Forense de Queimadas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611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foco de calor ao laudo pericial, com rastreabilidade criptográfica</a:t>
            </a:r>
            <a:endParaRPr lang="en-US" sz="1400" dirty="0"/>
          </a:p>
        </p:txBody>
      </p:sp>
      <p:pic>
        <p:nvPicPr>
          <p:cNvPr id="8" name="Image 0" descr="logos/pmesp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97680"/>
            <a:ext cx="1343630" cy="1152144"/>
          </a:xfrm>
          <a:prstGeom prst="rect">
            <a:avLst/>
          </a:prstGeom>
        </p:spPr>
      </p:pic>
      <p:pic>
        <p:nvPicPr>
          <p:cNvPr id="9" name="Image 1" descr="logos/cbpmesp-bras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182" y="4261104"/>
            <a:ext cx="1133856" cy="1133856"/>
          </a:xfrm>
          <a:prstGeom prst="rect">
            <a:avLst/>
          </a:prstGeom>
        </p:spPr>
      </p:pic>
      <p:pic>
        <p:nvPicPr>
          <p:cNvPr id="10" name="Image 2" descr="logos/pcsp-brasa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662" y="4133088"/>
            <a:ext cx="928162" cy="1225296"/>
          </a:xfrm>
          <a:prstGeom prst="rect">
            <a:avLst/>
          </a:prstGeom>
        </p:spPr>
      </p:pic>
      <p:pic>
        <p:nvPicPr>
          <p:cNvPr id="11" name="Image 3" descr="logos/sptc-brasao-202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448" y="4133088"/>
            <a:ext cx="968719" cy="122529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66928" y="548640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 · CORPO DE BOMBEIROS · POLÍCIA CIVIL · POLÍCIA CIENTÍFICA — ESTADO DE SÃO PAULO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sistema existe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 de um incêndio criminoso se dissipa em horas — o dado orbital, não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47872" cy="1572768"/>
          </a:xfrm>
          <a:prstGeom prst="roundRect">
            <a:avLst>
              <a:gd name="adj" fmla="val 4651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95528" y="18105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72A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24h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48716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típica em que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vestígios de campo se perdem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34256" y="1691640"/>
            <a:ext cx="3547872" cy="1572768"/>
          </a:xfrm>
          <a:prstGeom prst="roundRect">
            <a:avLst>
              <a:gd name="adj" fmla="val 4651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2856" y="18105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375 m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62856" y="248716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do sensor VIIRS,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em tempo quase real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691640"/>
            <a:ext cx="3547872" cy="1572768"/>
          </a:xfrm>
          <a:prstGeom prst="roundRect">
            <a:avLst>
              <a:gd name="adj" fmla="val 4651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30184" y="18105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30184" y="248716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orbitais independentes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validação cruzada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611880"/>
            <a:ext cx="11055096" cy="2395728"/>
          </a:xfrm>
          <a:prstGeom prst="roundRect">
            <a:avLst>
              <a:gd name="adj" fmla="val 3053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869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entrega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6968" y="4224528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879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Materialidade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44398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de detecções orbitais: houve fogo, onde e quando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27648" y="4224528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27648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41879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444398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do imóvel rural atingido para intimação do responsável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6968" y="5029200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86968" y="5029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926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Tempestividade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24865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Diretrizes de combate enquanto a ocorrência ainda está ativa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27648" y="5029200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27648" y="5029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49926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 jurídica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524865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custódia com hash SHA-256 reproduzível por terceiros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atribuições, um mesmo dossiê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corporação consome a mesma base de dados sob a ótica da sua competência legal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422392" cy="1773936"/>
          </a:xfrm>
          <a:prstGeom prst="roundRect">
            <a:avLst>
              <a:gd name="adj" fmla="val 3093"/>
            </a:avLst>
          </a:prstGeom>
          <a:solidFill>
            <a:srgbClr val="34363A"/>
          </a:solidFill>
          <a:ln/>
        </p:spPr>
      </p:sp>
      <p:pic>
        <p:nvPicPr>
          <p:cNvPr id="5" name="Image 0" descr="logos/pcsp-bras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898" y="1988820"/>
            <a:ext cx="796557" cy="1051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39696" y="19568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Polícia Judiciária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2139696" y="22860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" kern="0" dirty="0">
                <a:solidFill>
                  <a:srgbClr val="B0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Civil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139696" y="2596896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 de inquérito, nexo causal e identificação de autoria a partir do cadastro rural.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1627632"/>
            <a:ext cx="5422392" cy="1773936"/>
          </a:xfrm>
          <a:prstGeom prst="roundRect">
            <a:avLst>
              <a:gd name="adj" fmla="val 3093"/>
            </a:avLst>
          </a:prstGeom>
          <a:solidFill>
            <a:srgbClr val="34363A"/>
          </a:solidFill>
          <a:ln/>
        </p:spPr>
      </p:sp>
      <p:pic>
        <p:nvPicPr>
          <p:cNvPr id="10" name="Image 1" descr="logos/sptc-brasao-20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198" y="1988820"/>
            <a:ext cx="831363" cy="10515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0" y="19568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Perícia Criminal</a:t>
            </a:r>
            <a:endParaRPr lang="en-US" sz="1750" dirty="0"/>
          </a:p>
        </p:txBody>
      </p:sp>
      <p:sp>
        <p:nvSpPr>
          <p:cNvPr id="12" name="Text 8"/>
          <p:cNvSpPr txBox="1"/>
          <p:nvPr/>
        </p:nvSpPr>
        <p:spPr>
          <a:xfrm>
            <a:off x="7772400" y="22860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" kern="0" dirty="0">
                <a:solidFill>
                  <a:srgbClr val="B0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Científica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7772400" y="2596896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pericial com rastreabilidade, modelo de dispersão e validação criptográfica.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" y="3602736"/>
            <a:ext cx="5422392" cy="1773936"/>
          </a:xfrm>
          <a:prstGeom prst="roundRect">
            <a:avLst>
              <a:gd name="adj" fmla="val 3093"/>
            </a:avLst>
          </a:prstGeom>
          <a:solidFill>
            <a:srgbClr val="34363A"/>
          </a:solidFill>
          <a:ln/>
        </p:spPr>
      </p:sp>
      <p:pic>
        <p:nvPicPr>
          <p:cNvPr id="15" name="Image 2" descr="logos/cbpmesp-brasa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95928"/>
            <a:ext cx="987552" cy="98755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139696" y="393192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Combate e Salvamento</a:t>
            </a:r>
            <a:endParaRPr lang="en-US" sz="1750" dirty="0"/>
          </a:p>
        </p:txBody>
      </p:sp>
      <p:sp>
        <p:nvSpPr>
          <p:cNvPr id="17" name="Text 12"/>
          <p:cNvSpPr txBox="1"/>
          <p:nvPr/>
        </p:nvSpPr>
        <p:spPr>
          <a:xfrm>
            <a:off x="2139696" y="42611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" kern="0" dirty="0">
                <a:solidFill>
                  <a:srgbClr val="B0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de Bombeiros · PMESP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2139696" y="4572000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combate, velocidade de propagação e segurança da guarnição.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99632" y="3602736"/>
            <a:ext cx="5422392" cy="1773936"/>
          </a:xfrm>
          <a:prstGeom prst="roundRect">
            <a:avLst>
              <a:gd name="adj" fmla="val 3093"/>
            </a:avLst>
          </a:prstGeom>
          <a:solidFill>
            <a:srgbClr val="34363A"/>
          </a:solidFill>
          <a:ln/>
        </p:spPr>
      </p:sp>
      <p:pic>
        <p:nvPicPr>
          <p:cNvPr id="20" name="Image 3" descr="logos/pmesp-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348" y="4069080"/>
            <a:ext cx="981063" cy="8412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0" y="393192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Fiscalização Ambiental</a:t>
            </a:r>
            <a:endParaRPr lang="en-US" sz="1750" dirty="0"/>
          </a:p>
        </p:txBody>
      </p:sp>
      <p:sp>
        <p:nvSpPr>
          <p:cNvPr id="22" name="Text 16"/>
          <p:cNvSpPr txBox="1"/>
          <p:nvPr/>
        </p:nvSpPr>
        <p:spPr>
          <a:xfrm>
            <a:off x="7772400" y="42611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" kern="0" dirty="0">
                <a:solidFill>
                  <a:srgbClr val="B0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 Ambiental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0" y="4572000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Fiscalização em campo, queima autorizada e sobreposição com áreas protegidas.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66928" y="55778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processamento alimenta as quatro visões — não há retrabalho entre as corporações.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fluxo operacional em seis etapas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coordenada do foco à peça assinada — as próximas telas detalham cada etapa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3547872" cy="1956816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75104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751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299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Ingestão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724912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Coordenada, UTM ou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orbital selecionado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4256" y="1700784"/>
            <a:ext cx="3547872" cy="1956816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75104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08576" y="19751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20299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Satélites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724912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SIPAM, INPE e NASA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validação cruzada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700784"/>
            <a:ext cx="3547872" cy="1956816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975104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75904" y="19751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89136" y="20299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tático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724912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Propagação elíptica 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provável de ignição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913632"/>
            <a:ext cx="3547872" cy="1956816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187952"/>
            <a:ext cx="585216" cy="585216"/>
          </a:xfrm>
          <a:prstGeom prst="ellipse">
            <a:avLst/>
          </a:prstGeom>
          <a:solidFill>
            <a:srgbClr val="B72A0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4187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428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Laudo P4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93776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seções com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 por camada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34256" y="3913632"/>
            <a:ext cx="3547872" cy="1956816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187952"/>
            <a:ext cx="585216" cy="585216"/>
          </a:xfrm>
          <a:prstGeom prst="ellipse">
            <a:avLst/>
          </a:prstGeom>
          <a:solidFill>
            <a:srgbClr val="B72A0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08576" y="4187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321808" y="42428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Diretrizes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608576" y="493776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por força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linguagem de comando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01584" y="3913632"/>
            <a:ext cx="3547872" cy="1956816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75904" y="4187952"/>
            <a:ext cx="585216" cy="585216"/>
          </a:xfrm>
          <a:prstGeom prst="ellipse">
            <a:avLst/>
          </a:prstGeom>
          <a:solidFill>
            <a:srgbClr val="B72A0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75904" y="4187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089136" y="42428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Custódia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375904" y="493776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SHA-256 e livro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imutável de eventos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Ingestão da ocorrência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formas de entrada, uma única estrutura de dossiê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682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 decimal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9568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e longitude WGS84 com seis casas decimais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542032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5237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 UTM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7980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Fuso, hemisfério, easting e northing — conversão automática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364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município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63931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Malha oficial do IBGE com 5.570 municípios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224528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orbital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4805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direta de uma detecção do INPE ou evento do SIPAM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1664208"/>
            <a:ext cx="5029200" cy="3703320"/>
          </a:xfrm>
          <a:prstGeom prst="roundRect">
            <a:avLst>
              <a:gd name="adj" fmla="val 1975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903720" y="186537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Enriquecimento automático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2494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confirmar a coordenada, o sistema consulta as fontes externas e monta o dossiê: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779776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Município, UF e comarca competente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UTM / SIRGAS 2000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Meteorologia do instante do fato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Focos orbitais no raio de 35 km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Incidência em Terra Indígena ou UC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Hidrografia e vias de acesso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 de infração ambiental (SP)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Boletins de incêndio florestal (SP)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Tríplice validação orbital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sistemas independentes: a convergência é o que sustenta a materialidade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547872" cy="2788920"/>
          </a:xfrm>
          <a:prstGeom prst="roundRect">
            <a:avLst>
              <a:gd name="adj" fmla="val 2623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3547872" cy="841248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SIPAM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CENSIPAM / Ministério da Defesa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70048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consolidados até 30 dias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Polígonos com área em km²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com CAR, TI e UC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do fogo em dias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645920"/>
            <a:ext cx="3547872" cy="2788920"/>
          </a:xfrm>
          <a:prstGeom prst="roundRect">
            <a:avLst>
              <a:gd name="adj" fmla="val 2623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645920"/>
            <a:ext cx="3547872" cy="841248"/>
          </a:xfrm>
          <a:prstGeom prst="roundRect">
            <a:avLst>
              <a:gd name="adj" fmla="val 8696"/>
            </a:avLst>
          </a:prstGeom>
          <a:solidFill>
            <a:srgbClr val="2628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737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BDQueimadas / MCTI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670048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de referência (série oficial)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FRP, bioma e vegetação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risco e dias sem chuva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anual de 2020 a 2025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645920"/>
            <a:ext cx="3547872" cy="2788920"/>
          </a:xfrm>
          <a:prstGeom prst="roundRect">
            <a:avLst>
              <a:gd name="adj" fmla="val 2623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01584" y="1645920"/>
            <a:ext cx="3547872" cy="841248"/>
          </a:xfrm>
          <a:prstGeom prst="roundRect">
            <a:avLst>
              <a:gd name="adj" fmla="val 8696"/>
            </a:avLst>
          </a:prstGeom>
          <a:solidFill>
            <a:srgbClr val="B72A0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7616" y="1737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NASA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/ LANCE / EOSDIS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670048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375 m de resolução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 radiativa em MW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exato de passagem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de brilho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11055096" cy="1051560"/>
          </a:xfrm>
          <a:prstGeom prst="roundRect">
            <a:avLst>
              <a:gd name="adj" fmla="val 6957"/>
            </a:avLst>
          </a:prstGeom>
          <a:solidFill>
            <a:srgbClr val="26282B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86968" y="4846320"/>
            <a:ext cx="10415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entre as três fontes confere presunção forte de materialidade. Uma detecção isolada NÃO tem o mesmo peso probatório — e o laudo registra essa distinção.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Mapa tático e modelagem de propagação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Rothermel para a taxa de avanço e elipse de Alexander (1985) para a geometria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806440" cy="932688"/>
          </a:xfrm>
          <a:prstGeom prst="roundRect">
            <a:avLst>
              <a:gd name="adj" fmla="val 7843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92808"/>
            <a:ext cx="475488" cy="475488"/>
          </a:xfrm>
          <a:prstGeom prst="ellipse">
            <a:avLst/>
          </a:prstGeom>
          <a:solidFill>
            <a:srgbClr val="B72A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1783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avanço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08176" y="2048256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Azimute da frente de fogo, calculado a favor do vento, com taxa em metros por hora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688336"/>
            <a:ext cx="5806440" cy="932688"/>
          </a:xfrm>
          <a:prstGeom prst="roundRect">
            <a:avLst>
              <a:gd name="adj" fmla="val 7843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916936"/>
            <a:ext cx="475488" cy="475488"/>
          </a:xfrm>
          <a:prstGeom prst="ellipse">
            <a:avLst/>
          </a:prstGeom>
          <a:solidFill>
            <a:srgbClr val="B72A0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" y="2916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08176" y="28072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temporal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408176" y="3072384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Manchas elípticas para T+1h, T+3h e T+6h, com área em hectares e perímetro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712464"/>
            <a:ext cx="5806440" cy="932688"/>
          </a:xfrm>
          <a:prstGeom prst="roundRect">
            <a:avLst>
              <a:gd name="adj" fmla="val 7843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3941064"/>
            <a:ext cx="475488" cy="475488"/>
          </a:xfrm>
          <a:prstGeom prst="ellipse">
            <a:avLst/>
          </a:prstGeom>
          <a:solidFill>
            <a:srgbClr val="B72A0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3941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08176" y="38313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Back-tracking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409651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em sentido contrário ao vento, delimitando o quadrante provável de ignição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736592"/>
            <a:ext cx="5806440" cy="932688"/>
          </a:xfrm>
          <a:prstGeom prst="roundRect">
            <a:avLst>
              <a:gd name="adj" fmla="val 7843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4965192"/>
            <a:ext cx="475488" cy="475488"/>
          </a:xfrm>
          <a:prstGeom prst="ellipse">
            <a:avLst/>
          </a:prstGeom>
          <a:solidFill>
            <a:srgbClr val="B72A0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" y="4965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08176" y="48554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408176" y="51206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das manchas para uso em outros sistemas de comando e controle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1664208"/>
            <a:ext cx="4892040" cy="4041648"/>
          </a:xfrm>
          <a:prstGeom prst="roundRect">
            <a:avLst>
              <a:gd name="adj" fmla="val 1810"/>
            </a:avLst>
          </a:prstGeom>
          <a:solidFill>
            <a:srgbClr val="26282B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040880" y="1920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72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RESSALVA OBRIGATÓRIA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267712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Projeção matemática.</a:t>
            </a:r>
            <a:endParaRPr lang="en-US" sz="2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medição.</a:t>
            </a:r>
            <a:endParaRPr lang="en-US" sz="25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2461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desconsidera declividade do terreno, heterogeneidade do combustível, barreiras naturais, mudança de vento e ação de supressão.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43891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8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áreas projetadas NÃO devem ser citadas no laudo como área queimada apurada. A ressalva acompanha toda saída do modelo.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Laudo Pericial P4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seções fixas, exportáveis em Markdown, JSON, GeoJSON e PDF A4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223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47088"/>
            <a:ext cx="530352" cy="530352"/>
          </a:xfrm>
          <a:prstGeom prst="ellipse">
            <a:avLst/>
          </a:prstGeom>
          <a:solidFill>
            <a:srgbClr val="2628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47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79222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e enquadramento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066544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carimbo UTC, operador, WGS84 e UTM, comarca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688336"/>
            <a:ext cx="54223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889504"/>
            <a:ext cx="530352" cy="530352"/>
          </a:xfrm>
          <a:prstGeom prst="ellipse">
            <a:avLst/>
          </a:prstGeom>
          <a:solidFill>
            <a:srgbClr val="2628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28895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834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 geoespacial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108960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AIA, APP, vegetação, UC, CAR e BOI — com confiabilidade por camada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730752"/>
            <a:ext cx="54223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931920"/>
            <a:ext cx="530352" cy="530352"/>
          </a:xfrm>
          <a:prstGeom prst="ellipse">
            <a:avLst/>
          </a:prstGeom>
          <a:solidFill>
            <a:srgbClr val="2628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931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387705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 meteorológica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151376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Vento, umidade, temperatura e projeção de propagação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773168"/>
            <a:ext cx="54223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974336"/>
            <a:ext cx="530352" cy="530352"/>
          </a:xfrm>
          <a:prstGeom prst="ellipse">
            <a:avLst/>
          </a:prstGeom>
          <a:solidFill>
            <a:srgbClr val="2628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9743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9194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Diretrizes táticas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519379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separadas por força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632" y="1645920"/>
            <a:ext cx="54223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37376" y="1847088"/>
            <a:ext cx="530352" cy="530352"/>
          </a:xfrm>
          <a:prstGeom prst="ellipse">
            <a:avLst/>
          </a:prstGeom>
          <a:solidFill>
            <a:srgbClr val="2628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37376" y="1847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114032" y="179222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 forense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14032" y="2066544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de autoria, tipificação penal e administrativa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99632" y="2688336"/>
            <a:ext cx="54223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37376" y="2889504"/>
            <a:ext cx="530352" cy="530352"/>
          </a:xfrm>
          <a:prstGeom prst="ellipse">
            <a:avLst/>
          </a:prstGeom>
          <a:solidFill>
            <a:srgbClr val="2628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37376" y="28895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114032" y="2834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custódia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114032" y="3108960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canônica, hash SHA-256 e etapas registradas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9632" y="3730752"/>
            <a:ext cx="54223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37376" y="3931920"/>
            <a:ext cx="530352" cy="530352"/>
          </a:xfrm>
          <a:prstGeom prst="ellipse">
            <a:avLst/>
          </a:prstGeom>
          <a:solidFill>
            <a:srgbClr val="26282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37376" y="3931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114032" y="387705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Ressalvas e quesitos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114032" y="4151376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da análise e perguntas periciais prioritárias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199632" y="5797296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Enquadramento: Lei 9.605/1998 (Arts. 38, 40, 41 e 42) · Decreto 6.514/2008 · Lei 12.651/2012 · CP Art. 250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Diretrizes táticas por força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Geradas a partir das feições reais mapeadas no entorno — vias, cursos d’água e acessos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3547872" cy="2651760"/>
          </a:xfrm>
          <a:prstGeom prst="roundRect">
            <a:avLst>
              <a:gd name="adj" fmla="val 2759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83664"/>
            <a:ext cx="457200" cy="457200"/>
          </a:xfrm>
          <a:prstGeom prst="ellipse">
            <a:avLst/>
          </a:prstGeom>
          <a:solidFill>
            <a:srgbClr val="B72A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8836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Bombeiro Militar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542032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avanço e taxa em m/h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Aceiros ancorados em feições reais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Mananciais com acesso para moto-bomba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recuo a barlavento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virada de vento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664208"/>
            <a:ext cx="3547872" cy="2651760"/>
          </a:xfrm>
          <a:prstGeom prst="roundRect">
            <a:avLst>
              <a:gd name="adj" fmla="val 2759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188366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57216" y="18836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Policiamento Ostensivo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542032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bloqueio em vias nomeadas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Corredor livre para socorro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de maquinário agrícola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 monitoramento de tráfego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para preservar vestígio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664208"/>
            <a:ext cx="3547872" cy="2651760"/>
          </a:xfrm>
          <a:prstGeom prst="roundRect">
            <a:avLst>
              <a:gd name="adj" fmla="val 2759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883664"/>
            <a:ext cx="457200" cy="457200"/>
          </a:xfrm>
          <a:prstGeom prst="ellipse">
            <a:avLst/>
          </a:prstGeom>
          <a:solidFill>
            <a:srgbClr val="2628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7616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24544" y="18836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Judiciária e Perícia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542032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Preservação do vértice em “V”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solo e fuligem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com histórico de autuação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Quesitos periciais prioritários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Intimação do proprietário no CAR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6177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redação: segurança da guarnição antes de eficácia de combate. Toda diretriz que direciona pessoal traz rota de fuga e zona de segurança.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Cadeia de custódia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conformidade com os Arts. 158-A a 158-F do Código de Processo Penal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583680" cy="1371600"/>
          </a:xfrm>
          <a:prstGeom prst="roundRect">
            <a:avLst>
              <a:gd name="adj" fmla="val 5333"/>
            </a:avLst>
          </a:prstGeom>
          <a:solidFill>
            <a:srgbClr val="1718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STAMP_UTC | GEO_REF | CADASTRO_CAR |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HISTORICO | DATA_SOURCES | OPERATOR_ID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43230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2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SHA-256  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88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9AE833133A70B05B9B100A8A81FC7326740AA1AB3DB…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3310128"/>
            <a:ext cx="329184" cy="329184"/>
          </a:xfrm>
          <a:prstGeom prst="ellipse">
            <a:avLst/>
          </a:prstGeom>
          <a:solidFill>
            <a:srgbClr val="B72A0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32918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354787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evidência sempre produz o mesmo hash — reproduzível por terceiro independente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4096512"/>
            <a:ext cx="329184" cy="329184"/>
          </a:xfrm>
          <a:prstGeom prst="ellipse">
            <a:avLst/>
          </a:prstGeom>
          <a:solidFill>
            <a:srgbClr val="B72A0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40782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4334256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livro de eventos é protegido no próprio banco: alterar ou apagar um registro é recusado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882896"/>
            <a:ext cx="329184" cy="329184"/>
          </a:xfrm>
          <a:prstGeom prst="ellipse">
            <a:avLst/>
          </a:prstGeom>
          <a:solidFill>
            <a:srgbClr val="B72A0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4882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486460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Não-repúdio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120640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carrega operador e carimbo UTC — inclusive a remoção do dossiê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5669280"/>
            <a:ext cx="329184" cy="329184"/>
          </a:xfrm>
          <a:prstGeom prst="ellipse">
            <a:avLst/>
          </a:prstGeom>
          <a:solidFill>
            <a:srgbClr val="B72A0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5669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565099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Verificável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5907024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embutido recomputa o hash e acusa divergência de um único caractere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43800" y="1700784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3436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0" y="19385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registradas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24505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B72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FIXAÇÃO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2679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 e horário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31089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B72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orbital e meteorológica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767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B72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ACONDICIONAMENTO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3995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Dossiê digital gravado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44256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B72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REPROCESSAMENTO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863840" y="4654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Reanálise com novo hash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863840" y="50840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B72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5312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— também registrada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dados consumidas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Integralmente fontes oficiais e abertas — nenhuma base proprietária ou paga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9344"/>
          <a:ext cx="11055096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4206240"/>
                <a:gridCol w="1728216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Órgão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fornece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SIPAM — Painel do Fogo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85C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CENSIPAM / Min. Defesa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Eventos, polígonos, CAR, TI e 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INPE BDQueimadas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85C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INPE / MCTI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Focos, FRP, bioma, risco de fogo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Aberta (OGC)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INPE — TI e 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85C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FUNAI e MMA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Polígonos oficiais de áreas protegidas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Aberta (OGC)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FIRMS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85C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/ LANCE / EOSDIS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VIIRS 375 m, potência radiativa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 gratuita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85C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Copernicus / ECMWF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Vento, umidade, temperatura, pressão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IBGE / BrasilAPI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85C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Malha municipal e unidades federativas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OpenStreetMap Overpass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85C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OSM Foundation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Hidrografia e malha viária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Nominatim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85C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OSM Foundation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Geocodificação reversa e comarca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SIGAMgeo Público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85C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SEMIL-SP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Autos de infração e boletins de incêndio florestal (SP)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797296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WFS do DATAGEO foi desativado na origem; a camada paulista migrou para o ArcGIS REST público do SIGAMgeo. Quando uma fonte não responde, a camada vai ao laudo como não verificada — nunca como ausência de registro.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princípio que governa o sistema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dado inventado em laudo pericial é prova falsa em processo criminal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54787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3230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fonte respondeu e o dado provém dela. Traz órgão de origem e data da consulta.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4256" y="1645920"/>
            <a:ext cx="354787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0288" y="1847088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B72A0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0288" y="18470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43230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de modelo matemático, sempre acompanhada da ressalva de projeção.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1645920"/>
            <a:ext cx="354787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57616" y="1847088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B340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57616" y="18470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INDISPONÍVEL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43230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foi possível verificar. É resultado legítimo — nenhuma conclusão pode se apoiar nele.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840480"/>
            <a:ext cx="11055096" cy="1874520"/>
          </a:xfrm>
          <a:prstGeom prst="roundRect">
            <a:avLst>
              <a:gd name="adj" fmla="val 3902"/>
            </a:avLst>
          </a:prstGeom>
          <a:solidFill>
            <a:srgbClr val="26282B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2688" y="40416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distinção que separa um laudo admissível de uma prova falsa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480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“Não há registro” e “não consegui verificar” são fatos diferentes. O sistema nunca preenche lacuna com valor plausível, nunca apresenta falha de consulta como ausência de registro, e sempre informa ao operador como verificar manualmente o que ficou pendente.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sistema não faz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os limites é parte da validade da peça — e orienta a diligência seguinte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422392" cy="1225296"/>
          </a:xfrm>
          <a:prstGeom prst="roundRect">
            <a:avLst>
              <a:gd name="adj" fmla="val 5970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01952"/>
            <a:ext cx="420624" cy="420624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8470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prova autoria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13969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orbital estabelece materialidade. A autoria depende de diligência, oitiva e vestígio de campo.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9632" y="1664208"/>
            <a:ext cx="5422392" cy="1225296"/>
          </a:xfrm>
          <a:prstGeom prst="roundRect">
            <a:avLst>
              <a:gd name="adj" fmla="val 5970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5664" y="1901952"/>
            <a:ext cx="420624" cy="420624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55664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8470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mede área queimada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022592" y="213969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elipses são projeção do modelo, não perímetro apurado do incêndio.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35808"/>
            <a:ext cx="5422392" cy="1225296"/>
          </a:xfrm>
          <a:prstGeom prst="roundRect">
            <a:avLst>
              <a:gd name="adj" fmla="val 5970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273552"/>
            <a:ext cx="420624" cy="420624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218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caracteriza a vegetação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351129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 vem do foco mais próximo; o estágio sucessional exige perícia in loco.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9632" y="3035808"/>
            <a:ext cx="5422392" cy="1225296"/>
          </a:xfrm>
          <a:prstGeom prst="roundRect">
            <a:avLst>
              <a:gd name="adj" fmla="val 5970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5664" y="3273552"/>
            <a:ext cx="420624" cy="420624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55664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3218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desenha o imóvel rural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22592" y="351129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integração com o SICAR, nenhum perímetro de propriedade é traçado no mapa.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407408"/>
            <a:ext cx="5422392" cy="1225296"/>
          </a:xfrm>
          <a:prstGeom prst="roundRect">
            <a:avLst>
              <a:gd name="adj" fmla="val 5970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645152"/>
            <a:ext cx="420624" cy="420624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45902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verifica queima autorizada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89888" y="488289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integração com os cadastros estaduais de autorização.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99632" y="4407408"/>
            <a:ext cx="5422392" cy="1225296"/>
          </a:xfrm>
          <a:prstGeom prst="roundRect">
            <a:avLst>
              <a:gd name="adj" fmla="val 5970"/>
            </a:avLst>
          </a:prstGeom>
          <a:solidFill>
            <a:srgbClr val="F5F6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55664" y="4645152"/>
            <a:ext cx="420624" cy="420624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55664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22592" y="45902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tipifica em definitivo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022592" y="488289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tipificação é preliminar; a definitiva cabe ao Delegado e ao Ministério Público.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 implantação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com um comando; opera em rede de unidade sem dependência de nuvem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690372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2024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8470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institucional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39696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nunca fala com fonte externa diretamente. Todas as consultas passam pelo servidor local — isso isola credenciais e mantém a consulta auditável.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3035808"/>
            <a:ext cx="690372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329184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32186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em duas camadas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511296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durável em SQLite com o livro de custódia, e cache no navegador que garante trabalho de campo com conexão intermitente.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407408"/>
            <a:ext cx="690372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66344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663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5902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em contêiner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882896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com um único serviço. A base pericial fica em pasta do próprio projeto, copiável para preservação da prova.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18120" y="1664208"/>
            <a:ext cx="3803904" cy="3968496"/>
          </a:xfrm>
          <a:prstGeom prst="roundRect">
            <a:avLst>
              <a:gd name="adj" fmla="val 1923"/>
            </a:avLst>
          </a:prstGeom>
          <a:solidFill>
            <a:srgbClr val="26282B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138160" y="18836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2340864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 Docker Compose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instalação no host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banco de dados externo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serviço em nuvem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moderno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4224528"/>
            <a:ext cx="3200400" cy="566928"/>
          </a:xfrm>
          <a:prstGeom prst="roundRect">
            <a:avLst>
              <a:gd name="adj" fmla="val 9677"/>
            </a:avLst>
          </a:prstGeom>
          <a:solidFill>
            <a:srgbClr val="1718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0" y="42245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9011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disponível na porta 3000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2E3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84124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síntese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475488" cy="475488"/>
          </a:xfrm>
          <a:prstGeom prst="ellipse">
            <a:avLst/>
          </a:prstGeom>
          <a:solidFill>
            <a:srgbClr val="B72A0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9222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completa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detecção orbital ao laudo assinado, sem troca de ferramenta entre as etapas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834640"/>
            <a:ext cx="475488" cy="475488"/>
          </a:xfrm>
          <a:prstGeom prst="ellipse">
            <a:avLst/>
          </a:prstGeom>
          <a:solidFill>
            <a:srgbClr val="B72A0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oficiais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12724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 bases governamentais e abertas, sem custo de licença ou credencial restrita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58768"/>
            <a:ext cx="475488" cy="475488"/>
          </a:xfrm>
          <a:prstGeom prst="ellipse">
            <a:avLst/>
          </a:prstGeom>
          <a:solidFill>
            <a:srgbClr val="B72A0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858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404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defensável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151376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6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Custódia criptográfica reproduzível e declaração explícita do que não foi apurado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0" y="1737360"/>
            <a:ext cx="3840480" cy="2788920"/>
          </a:xfrm>
          <a:prstGeom prst="roundRect">
            <a:avLst>
              <a:gd name="adj" fmla="val 3279"/>
            </a:avLst>
          </a:prstGeom>
          <a:solidFill>
            <a:srgbClr val="3436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92440" y="19568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414016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o SICAR para o perímetro do imóvel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 estaduais de queima autorizada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Caracterização da vegetação via MapBiomas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 autenticação para uso em rede</a:t>
            </a:r>
            <a:endParaRPr lang="en-US" sz="1200" dirty="0"/>
          </a:p>
        </p:txBody>
      </p:sp>
      <p:pic>
        <p:nvPicPr>
          <p:cNvPr id="19" name="Image 0" descr="logos/pmesp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0"/>
            <a:ext cx="1066373" cy="914400"/>
          </a:xfrm>
          <a:prstGeom prst="rect">
            <a:avLst/>
          </a:prstGeom>
        </p:spPr>
      </p:pic>
      <p:pic>
        <p:nvPicPr>
          <p:cNvPr id="20" name="Image 1" descr="logos/cbpmesp-bras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773" y="5193792"/>
            <a:ext cx="886968" cy="886968"/>
          </a:xfrm>
          <a:prstGeom prst="rect">
            <a:avLst/>
          </a:prstGeom>
        </p:spPr>
      </p:pic>
      <p:pic>
        <p:nvPicPr>
          <p:cNvPr id="21" name="Image 2" descr="logos/pcsp-brasa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213" y="5093208"/>
            <a:ext cx="727291" cy="960120"/>
          </a:xfrm>
          <a:prstGeom prst="rect">
            <a:avLst/>
          </a:prstGeom>
        </p:spPr>
      </p:pic>
      <p:pic>
        <p:nvPicPr>
          <p:cNvPr id="22" name="Image 3" descr="logos/sptc-brasao-202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688" y="5093208"/>
            <a:ext cx="759071" cy="9601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7959" y="5394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SIMIA-Verde · SENASP / MJSP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487959" y="5687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do patrimônio socioambiental brasileiro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SIMIA-Verde — Apresentação Institucional</dc:title>
  <dc:subject>PptxGenJS Presentation</dc:subject>
  <dc:creator>SIMIA-Verde</dc:creator>
  <cp:lastModifiedBy>SIMIA-Verde</cp:lastModifiedBy>
  <cp:revision>1</cp:revision>
  <dcterms:created xsi:type="dcterms:W3CDTF">2026-09-18T12:30:32Z</dcterms:created>
  <dcterms:modified xsi:type="dcterms:W3CDTF">2026-09-18T12:30:32Z</dcterms:modified>
</cp:coreProperties>
</file>